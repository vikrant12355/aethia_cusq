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arlow Bold" panose="020B0604020202020204" charset="0"/>
      <p:regular r:id="rId13"/>
    </p:embeddedFont>
    <p:embeddedFont>
      <p:font typeface="Montserrat" panose="00000500000000000000" pitchFamily="2" charset="0"/>
      <p:regular r:id="rId14"/>
    </p:embeddedFont>
    <p:embeddedFont>
      <p:font typeface="Montserrat Bold" panose="00000800000000000000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77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31908" y="2132707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Aethia trade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1908" y="2798763"/>
            <a:ext cx="635599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AI-Powered Personalized Investment Assistant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1908" y="3366393"/>
            <a:ext cx="6355993" cy="1358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intelligent investment platform that creates personalised strategies, monitors portfolios, and provides AI-driven financial recommendations.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702FB-A91B-16D8-DA69-AC3EDF610E3D}"/>
              </a:ext>
            </a:extLst>
          </p:cNvPr>
          <p:cNvSpPr txBox="1"/>
          <p:nvPr/>
        </p:nvSpPr>
        <p:spPr>
          <a:xfrm>
            <a:off x="545644" y="4355862"/>
            <a:ext cx="213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Team Area51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31912"/>
            <a:ext cx="10927878" cy="564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Problem: Investing Without Guidance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421904"/>
            <a:ext cx="710488" cy="8881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45988" y="1421904"/>
            <a:ext cx="1665147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Where to invest?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545988" y="2083792"/>
            <a:ext cx="1665147" cy="107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Beginners lack signals and strategy — choices are overwhelming.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726" y="1421904"/>
            <a:ext cx="710587" cy="8882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28905" y="1421904"/>
            <a:ext cx="1665147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much to invest?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328905" y="2083792"/>
            <a:ext cx="1665147" cy="107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personalised sizing based on income, expenses, goals.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643" y="1421904"/>
            <a:ext cx="710488" cy="8881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11723" y="1421904"/>
            <a:ext cx="1665147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to diversify?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111723" y="2083792"/>
            <a:ext cx="1665147" cy="107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Spreading risk requires expertise most users don't have.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461" y="1421904"/>
            <a:ext cx="710587" cy="88820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94640" y="1421904"/>
            <a:ext cx="1665147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When to buy or sell?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9894640" y="2083792"/>
            <a:ext cx="1665147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Timing signals are opaque and noisy for retail users.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08" y="3479998"/>
            <a:ext cx="710488" cy="88810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45988" y="3479998"/>
            <a:ext cx="1665147" cy="56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to manage risk?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1545988" y="4141887"/>
            <a:ext cx="1665147" cy="1337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monitoring and rebalancing are lacking in generic apps.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31908" y="5663109"/>
            <a:ext cx="10927878" cy="662880"/>
          </a:xfrm>
          <a:prstGeom prst="roundRect">
            <a:avLst>
              <a:gd name="adj" fmla="val 38812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354" y="5896670"/>
            <a:ext cx="214307" cy="1714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89107" y="5868888"/>
            <a:ext cx="1080881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 advisors cost too much; existing apps lack deep personalisation.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10063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Our Solution: AI-Powered Investment Intelligence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055614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InvestAI combines autonomous AI agents, market signals, and secure blockchain wallets to deliver: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547640"/>
            <a:ext cx="451335" cy="451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8861" y="2547640"/>
            <a:ext cx="2815262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Personalised Investment Plans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08861" y="3249613"/>
            <a:ext cx="281526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Tailored strategies based on income, goals and risk profile.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9740" y="2547640"/>
            <a:ext cx="451335" cy="4513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6693" y="2547640"/>
            <a:ext cx="281526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Portfolio Allocation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026693" y="2952750"/>
            <a:ext cx="2815262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diversification across asset classes and sectors.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7572" y="2547640"/>
            <a:ext cx="451335" cy="4513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44525" y="2547640"/>
            <a:ext cx="281526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Risk Analysis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744525" y="2952750"/>
            <a:ext cx="281526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risk scoring and stress testing.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4188520"/>
            <a:ext cx="451335" cy="4513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08861" y="4188520"/>
            <a:ext cx="2815262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Recommendations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308861" y="4890492"/>
            <a:ext cx="2815262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 / Sell / Hold alerts with explainability and confidence scores.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9740" y="4188520"/>
            <a:ext cx="451335" cy="45134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26693" y="4188520"/>
            <a:ext cx="2815262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Blockchain Wallet Integration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5026693" y="4890492"/>
            <a:ext cx="2815262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custody, transparent transaction history and on-chain settlement options.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38559"/>
            <a:ext cx="10927878" cy="564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InvestAI Works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12" y="1428552"/>
            <a:ext cx="10295871" cy="4439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0705" y="5018727"/>
            <a:ext cx="2458584" cy="307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Analysis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640705" y="3990952"/>
            <a:ext cx="2458584" cy="307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Financial Profile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640705" y="2973559"/>
            <a:ext cx="2458584" cy="307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Login / Signup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640705" y="1945785"/>
            <a:ext cx="2458584" cy="307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Landing Page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27116" y="6051748"/>
            <a:ext cx="1153746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seamless end-to-end journey: onboarding to recommendations and live portfolio monitoring with continuous AI feedback.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31908" y="674985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Autonomous AI Investment Agents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31908" y="2133600"/>
            <a:ext cx="3087709" cy="1934468"/>
          </a:xfrm>
          <a:prstGeom prst="roundRect">
            <a:avLst>
              <a:gd name="adj" fmla="val 14000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18733" y="2320429"/>
            <a:ext cx="2714061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Portfolio Generator Agent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18733" y="2725539"/>
            <a:ext cx="271406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Inputs: income, risk tolerance, investment amount. Output: diversified portfolio tailored to goals.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00092" y="2133600"/>
            <a:ext cx="3087809" cy="1934468"/>
          </a:xfrm>
          <a:prstGeom prst="roundRect">
            <a:avLst>
              <a:gd name="adj" fmla="val 14000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86917" y="2320429"/>
            <a:ext cx="271416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Advisor Chat Agent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86917" y="2725539"/>
            <a:ext cx="271416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Conversational interface: answers queries like “Can I invest ₹10,000?” and explains recommendations.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1908" y="4248547"/>
            <a:ext cx="3087709" cy="1934468"/>
          </a:xfrm>
          <a:prstGeom prst="roundRect">
            <a:avLst>
              <a:gd name="adj" fmla="val 14000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8733" y="4435376"/>
            <a:ext cx="2714061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Market Analysis Agent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18733" y="4840486"/>
            <a:ext cx="271406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Continuously ingests news, social sentiment, and technical indicators for signal generation.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900092" y="4248547"/>
            <a:ext cx="3087809" cy="1934468"/>
          </a:xfrm>
          <a:prstGeom prst="roundRect">
            <a:avLst>
              <a:gd name="adj" fmla="val 14000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86917" y="4435376"/>
            <a:ext cx="271416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Alert Agent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4086917" y="4840486"/>
            <a:ext cx="271416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Monitors volatility, threshold breaches and rebalancing triggers; pushes actionable alerts.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83155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Smart Investment Dashboard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386509"/>
            <a:ext cx="5243679" cy="294957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457" y="1899345"/>
            <a:ext cx="551940" cy="5519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00015" y="1899345"/>
            <a:ext cx="173142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Portfolio Value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100015" y="2376686"/>
            <a:ext cx="1731423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valuation with daily and YTD change.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7056" y="1899345"/>
            <a:ext cx="551940" cy="5519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34614" y="1899345"/>
            <a:ext cx="173152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Portfolio Growth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834614" y="2376686"/>
            <a:ext cx="173152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chart showing performance vs benchmark.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2457" y="3893443"/>
            <a:ext cx="551940" cy="5519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00015" y="3893443"/>
            <a:ext cx="1731423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Allocation &amp; Sectors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100015" y="4667647"/>
            <a:ext cx="173142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breakdown by asset class and industry sector.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7056" y="3893443"/>
            <a:ext cx="551940" cy="55195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834614" y="3893443"/>
            <a:ext cx="1731522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Confidence &amp; Risk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9834614" y="4667647"/>
            <a:ext cx="173152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Score-based guidance and suggested rebalances.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51755"/>
            <a:ext cx="10927878" cy="526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AI-Based Buy / Sell / Hold Decisions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51" y="2607866"/>
            <a:ext cx="4232566" cy="238085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31327" y="1449784"/>
            <a:ext cx="2846515" cy="2969816"/>
          </a:xfrm>
          <a:prstGeom prst="roundRect">
            <a:avLst>
              <a:gd name="adj" fmla="val 8429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910313" y="1628775"/>
            <a:ext cx="2488542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Example Recommendation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910313" y="2296517"/>
            <a:ext cx="2488542" cy="1944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Stock: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Tesla — </a:t>
            </a:r>
            <a:r>
              <a:rPr lang="en-US" sz="12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Recommendation: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SELL</a:t>
            </a:r>
            <a:endParaRPr lang="en-US" sz="1250" dirty="0"/>
          </a:p>
          <a:p>
            <a:pPr marL="0" indent="0" algn="l">
              <a:lnSpc>
                <a:spcPct val="126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Reason: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Valuation stretched relative to fundamentals and sentiment spike.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Expected Correction: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8%  •  </a:t>
            </a:r>
            <a:r>
              <a:rPr lang="en-US" sz="12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Confidence: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92%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719522" y="1449784"/>
            <a:ext cx="2846515" cy="2969816"/>
          </a:xfrm>
          <a:prstGeom prst="roundRect">
            <a:avLst>
              <a:gd name="adj" fmla="val 8429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898509" y="1628775"/>
            <a:ext cx="248854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Decision Controls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898509" y="2033488"/>
            <a:ext cx="248854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Buttons: Accept Recommendation • Dismiss • Schedule Auto-Trade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731327" y="4561284"/>
            <a:ext cx="5834710" cy="1585615"/>
          </a:xfrm>
          <a:prstGeom prst="roundRect">
            <a:avLst>
              <a:gd name="adj" fmla="val 15132"/>
            </a:avLst>
          </a:prstGeom>
          <a:solidFill>
            <a:srgbClr val="FFFFFF"/>
          </a:solidFill>
          <a:ln w="190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10313" y="4740275"/>
            <a:ext cx="547673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AI Uses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910313" y="5144988"/>
            <a:ext cx="5476738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trends &amp; technical signals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risk contribution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News &amp; sentiment analysis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13507"/>
            <a:ext cx="1092787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Secure Digital Investment Wallet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7970440" y="1677293"/>
            <a:ext cx="3595598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70440" y="2030413"/>
            <a:ext cx="3595598" cy="1368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Wallet connection: MetaMask, WalletConnect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Deposit / Withdraw / Transfer with on-chain receipts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Immutable transaction history and audit logs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on-chain settlement and tokenised assets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970440" y="3514824"/>
            <a:ext cx="3595598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70440" y="3867944"/>
            <a:ext cx="3595598" cy="912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contracts: Solidity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Wallet SDKs: MetaMask, WalletConnect, Ethers.js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key management &amp; encryption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970440" y="4910534"/>
            <a:ext cx="3595598" cy="903883"/>
          </a:xfrm>
          <a:prstGeom prst="roundRect">
            <a:avLst>
              <a:gd name="adj" fmla="val 23970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799" y="5088037"/>
            <a:ext cx="180474" cy="1443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39633" y="5050532"/>
            <a:ext cx="2982044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Privacy-first design: users control keys; InvestAI supports custodial &amp; non-custodial flows.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DF2EDE-98A1-D69F-F20D-21989EC38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66" y="1992847"/>
            <a:ext cx="6973051" cy="35192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59296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Architecture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292" y="1386185"/>
            <a:ext cx="9835011" cy="45010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479" y="1960294"/>
            <a:ext cx="2289976" cy="28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Client &amp; Web3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382479" y="2323961"/>
            <a:ext cx="2398001" cy="41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Next.js, React, Solidity, Vercel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410871" y="3439742"/>
            <a:ext cx="2204614" cy="28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API &amp; Data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10871" y="3803410"/>
            <a:ext cx="2204614" cy="413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Node/Express, FastAPI, PostgreSQL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382479" y="4203641"/>
            <a:ext cx="2289976" cy="286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AI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382479" y="4567308"/>
            <a:ext cx="2398001" cy="413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OpenAI, Claude, Gemini for inference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27116" y="6051748"/>
            <a:ext cx="11537463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Modular, scalable design for realtime inference, secure transactions and horizontally scalable services.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8021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MVP Roadmap &amp; Impact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436291"/>
            <a:ext cx="4739065" cy="473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0431" y="1592362"/>
            <a:ext cx="5265705" cy="1892002"/>
          </a:xfrm>
          <a:prstGeom prst="roundRect">
            <a:avLst>
              <a:gd name="adj" fmla="val 12883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69198" y="1761133"/>
            <a:ext cx="492817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Impact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469198" y="2174478"/>
            <a:ext cx="4928171" cy="114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Smarter investing via personalised advice</a:t>
            </a:r>
            <a:endParaRPr lang="en-US" sz="1250" dirty="0"/>
          </a:p>
          <a:p>
            <a:pPr marL="254000" indent="-254000" algn="l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Accessible AI financial guidance for retail users</a:t>
            </a:r>
            <a:endParaRPr lang="en-US" sz="1250" dirty="0"/>
          </a:p>
          <a:p>
            <a:pPr marL="254000" indent="-254000" algn="l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Risk-aware decisions with transparent explainability</a:t>
            </a:r>
            <a:endParaRPr lang="en-US" sz="1250" dirty="0"/>
          </a:p>
          <a:p>
            <a:pPr marL="254000" indent="-254000" algn="l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platform ready for rapid feature expansion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0431" y="3630513"/>
            <a:ext cx="5265705" cy="1244798"/>
          </a:xfrm>
          <a:prstGeom prst="roundRect">
            <a:avLst>
              <a:gd name="adj" fmla="val 19581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69198" y="3799284"/>
            <a:ext cx="492817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Focus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469198" y="4212630"/>
            <a:ext cx="4928171" cy="49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 • Problem relevance • Technical feasibility • Scalability • Social impact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0431" y="5021461"/>
            <a:ext cx="5265705" cy="997843"/>
          </a:xfrm>
          <a:prstGeom prst="roundRect">
            <a:avLst>
              <a:gd name="adj" fmla="val 24427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69198" y="5190232"/>
            <a:ext cx="492817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Closing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469198" y="5603577"/>
            <a:ext cx="4928171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Making intelligent investing accessible for everyone.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588</Words>
  <Application>Microsoft Office PowerPoint</Application>
  <PresentationFormat>Widescreen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 Bold</vt:lpstr>
      <vt:lpstr>Barlow Bold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avneesh kumar</cp:lastModifiedBy>
  <cp:revision>2</cp:revision>
  <dcterms:created xsi:type="dcterms:W3CDTF">2026-08-08T04:15:55Z</dcterms:created>
  <dcterms:modified xsi:type="dcterms:W3CDTF">2026-08-08T05:58:04Z</dcterms:modified>
</cp:coreProperties>
</file>